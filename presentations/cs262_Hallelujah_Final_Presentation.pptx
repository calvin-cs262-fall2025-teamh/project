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Old Standard TT"/>
      <p:regular r:id="rId14"/>
      <p:bold r:id="rId15"/>
      <p: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ldStandardTT-bold.fntdata"/><Relationship Id="rId14" Type="http://schemas.openxmlformats.org/officeDocument/2006/relationships/font" Target="fonts/OldStandardTT-regular.fntdata"/><Relationship Id="rId16" Type="http://schemas.openxmlformats.org/officeDocument/2006/relationships/font" Target="fonts/OldStandardT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96574b5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96574b5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Meet Sarah and David—a Calvin couple trying to honor God in their relationship. Between classes, chapel service, projects, and part-time jobs, life gets overwhelming. Their memories are scattered across multiple apps. They want to pray together regularly, but their prayer intentions get lost in the busyness of life. They've missed anniversaries and lost track of spiritual growth. Couples today juggle too many apps — Photos, Days Matter, Prayer apps, Messenger, Google Calendar, WhatsApp… everything is scattered across different places. They need ONE place that understands their relationship AND their faith—not just another common generic app."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2ed73d68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2ed73d68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Martin </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br>
              <a:rPr lang="en"/>
            </a:br>
            <a:r>
              <a:rPr lang="en">
                <a:solidFill>
                  <a:schemeClr val="dk1"/>
                </a:solidFill>
              </a:rPr>
              <a:t>"What makes CoupleBond different? While WhatsApp is great for chatting and Google Photos stores pictures, neither understands your RELATIONSHIP or your FAITH. We integrate everything—shared lists, prayer reflection, anniversary reminders, calendar events, bible reading plan, memory timeline—in ONE private space designed specifically for two people building a Christ-centered life together. </a:t>
            </a:r>
            <a:br>
              <a:rPr lang="en">
                <a:solidFill>
                  <a:schemeClr val="dk1"/>
                </a:solidFill>
              </a:rPr>
            </a:br>
            <a:br>
              <a:rPr lang="en">
                <a:solidFill>
                  <a:schemeClr val="dk1"/>
                </a:solidFill>
              </a:rPr>
            </a:br>
            <a:r>
              <a:rPr lang="en">
                <a:solidFill>
                  <a:schemeClr val="dk1"/>
                </a:solidFill>
              </a:rPr>
              <a:t>"CoupleBond embodies Ecclesiastes 4:9—'Two are better than one.' CoupleBond will be a private mobile app that helps Christian couples organize life, grow spiritually, and celebrate their God-given journey—together.</a:t>
            </a:r>
            <a:br>
              <a:rPr lang="en">
                <a:solidFill>
                  <a:schemeClr val="dk1"/>
                </a:solidFill>
              </a:rPr>
            </a:b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27c739f51_8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27c739f51_8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Also demo the help features.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08278d2e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08278d2e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diagram shows our mobile app connecting to a web app on Azure using HTTPS. The web app is deployed from GitHub and stores data in a PostgreSQL database hosted on Azure through pg-promise.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116bc0bb7_1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116bc0bb7_1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
              <a:t>Emoji: Improved emoji status layout for better visual clarity and easier interaction</a:t>
            </a:r>
            <a:endParaRPr/>
          </a:p>
          <a:p>
            <a:pPr indent="-298450" lvl="0" marL="457200" rtl="0" algn="l">
              <a:lnSpc>
                <a:spcPct val="115000"/>
              </a:lnSpc>
              <a:spcBef>
                <a:spcPts val="0"/>
              </a:spcBef>
              <a:spcAft>
                <a:spcPts val="0"/>
              </a:spcAft>
              <a:buSzPts val="1100"/>
              <a:buChar char="-"/>
            </a:pPr>
            <a:r>
              <a:rPr lang="en"/>
              <a:t>Photos: Refined photo-taking interface to reduce user hesitation</a:t>
            </a:r>
            <a:endParaRPr/>
          </a:p>
          <a:p>
            <a:pPr indent="-298450" lvl="0" marL="457200" rtl="0" algn="l">
              <a:lnSpc>
                <a:spcPct val="115000"/>
              </a:lnSpc>
              <a:spcBef>
                <a:spcPts val="0"/>
              </a:spcBef>
              <a:spcAft>
                <a:spcPts val="0"/>
              </a:spcAft>
              <a:buSzPts val="1100"/>
              <a:buChar char="-"/>
            </a:pPr>
            <a:r>
              <a:rPr lang="en"/>
              <a:t>Calendar: Updated calendar time selector for clearer and more consistent use</a:t>
            </a:r>
            <a:endParaRPr/>
          </a:p>
          <a:p>
            <a:pPr indent="-298450" lvl="0" marL="457200" rtl="0" algn="l">
              <a:lnSpc>
                <a:spcPct val="115000"/>
              </a:lnSpc>
              <a:spcBef>
                <a:spcPts val="0"/>
              </a:spcBef>
              <a:spcAft>
                <a:spcPts val="0"/>
              </a:spcAft>
              <a:buSzPts val="1100"/>
              <a:buChar char="-"/>
            </a:pPr>
            <a:r>
              <a:rPr lang="en"/>
              <a:t>Unmatch: Increased visibility of the unmatch option, with possible direct access from partner profile</a:t>
            </a:r>
            <a:endParaRPr/>
          </a:p>
          <a:p>
            <a:pPr indent="-298450" lvl="0" marL="457200" rtl="0" algn="l">
              <a:lnSpc>
                <a:spcPct val="115000"/>
              </a:lnSpc>
              <a:spcBef>
                <a:spcPts val="0"/>
              </a:spcBef>
              <a:spcAft>
                <a:spcPts val="0"/>
              </a:spcAft>
              <a:buSzPts val="1100"/>
              <a:buChar char="-"/>
            </a:pPr>
            <a:r>
              <a:rPr lang="en"/>
              <a:t>Help: Added a help page for common questions and help icons on each page to guide users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08278d2e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08278d2e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we would like to say that we love the way CoupleBond has turned out and its functionality is great. It has encaptured all that we wanted to do in the app to integrate faith into a relationship and help couples dedicate more time to each other and to God. </a:t>
            </a:r>
            <a:br>
              <a:rPr lang="en"/>
            </a:br>
            <a:br>
              <a:rPr lang="en"/>
            </a:br>
            <a:r>
              <a:rPr lang="en"/>
              <a:t>We will say that Postman’s first idea, “All technology is a trade-off”, plays an important role in the development of our app. CoupleBond could be seen as a trade-off for in-person planning events or communicating face-to-face, so we want to be mindful of how much CoupleBond really plays a role in people’s relationships.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Strengths: For our strengths, we </a:t>
            </a:r>
            <a:r>
              <a:rPr lang="en"/>
              <a:t>believe</a:t>
            </a:r>
            <a:r>
              <a:rPr lang="en"/>
              <a:t> that CoupleBond provides lots of encouragement and support for couples to grow in their faith together while they communicate / keep in touch online. Planning events with the calendar feature and reflecting on God’s word with Daily Bread help couples stay committed to in-person time with one another as well as understanding God.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Weakness: To address our weaknesses, we realize that CoupleBond could “</a:t>
            </a:r>
            <a:r>
              <a:rPr lang="en"/>
              <a:t>digitalize</a:t>
            </a:r>
            <a:r>
              <a:rPr lang="en"/>
              <a:t>” a relationship to some extent, and that is not the goal of our app. We have aimed at focusing our app to help couples spend more time </a:t>
            </a:r>
            <a:r>
              <a:rPr lang="en"/>
              <a:t>with</a:t>
            </a:r>
            <a:r>
              <a:rPr lang="en"/>
              <a:t> each other in person rather than relying on communication through a screen.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message that we do not want users to take away from our app is that couples need to always be connected with one another online in order for their relationship to work. Sure, we could take Postman’s 5th idea of “media is mythic” and say that this is just the way the world </a:t>
            </a:r>
            <a:r>
              <a:rPr lang="en"/>
              <a:t>evolving</a:t>
            </a:r>
            <a:r>
              <a:rPr lang="en"/>
              <a:t>, but that’s not necessarily true. </a:t>
            </a:r>
            <a:br>
              <a:rPr lang="en"/>
            </a:br>
            <a:r>
              <a:rPr lang="en"/>
              <a:t>CoupleBond is an app for two people like Sarah and David who want a way to intentionally devote their time to each other and to God.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we chose to carry on Sarah and David’s journey and extend their experience to others, we would have to take the next steps towards deploying our app, which would include finalizing our materials, doing some more user tests on our current product, and submitting a build to the app store once we are satisfied and getting that approved. Of course, the biggest part of all of this would be maintaining the app and keeping it up to date as technology changes.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27c739f51_8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27c739f51_8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we wanted to design an app that was intentional for helping couples make more time for God and each other in their relationships, and with the digital age we’re living in, we thought CoupleBond was the perfect product for people in the same </a:t>
            </a:r>
            <a:r>
              <a:rPr lang="en"/>
              <a:t>situation</a:t>
            </a:r>
            <a:r>
              <a:rPr lang="en"/>
              <a:t> as Sarah and David. Thank you stakeholders for your feedback, professors for your support, and audience for listening.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 Id="rId11" Type="http://schemas.openxmlformats.org/officeDocument/2006/relationships/image" Target="../media/image7.png"/><Relationship Id="rId10" Type="http://schemas.openxmlformats.org/officeDocument/2006/relationships/image" Target="../media/image4.png"/><Relationship Id="rId9"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B4B4"/>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65625" y="2078500"/>
            <a:ext cx="8118600" cy="1522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sz="6000">
                <a:solidFill>
                  <a:schemeClr val="lt1"/>
                </a:solidFill>
              </a:rPr>
              <a:t>#All-H</a:t>
            </a:r>
            <a:r>
              <a:rPr b="1" lang="en" sz="6000">
                <a:solidFill>
                  <a:schemeClr val="lt1"/>
                </a:solidFill>
              </a:rPr>
              <a:t>allelujah</a:t>
            </a:r>
            <a:r>
              <a:rPr b="1" lang="en" sz="6000">
                <a:solidFill>
                  <a:schemeClr val="lt1"/>
                </a:solidFill>
              </a:rPr>
              <a:t>-Team:</a:t>
            </a:r>
            <a:br>
              <a:rPr b="1" lang="en" sz="6000">
                <a:solidFill>
                  <a:schemeClr val="lt1"/>
                </a:solidFill>
              </a:rPr>
            </a:br>
            <a:r>
              <a:rPr b="1" lang="en" sz="6000">
                <a:solidFill>
                  <a:schemeClr val="lt1"/>
                </a:solidFill>
              </a:rPr>
              <a:t>CoupleBond</a:t>
            </a:r>
            <a:endParaRPr b="1" sz="6000">
              <a:solidFill>
                <a:schemeClr val="lt1"/>
              </a:solidFill>
            </a:endParaRPr>
          </a:p>
        </p:txBody>
      </p:sp>
      <p:sp>
        <p:nvSpPr>
          <p:cNvPr id="60" name="Google Shape;60;p13"/>
          <p:cNvSpPr txBox="1"/>
          <p:nvPr>
            <p:ph idx="1" type="subTitle"/>
          </p:nvPr>
        </p:nvSpPr>
        <p:spPr>
          <a:xfrm>
            <a:off x="2729675" y="4272300"/>
            <a:ext cx="6371700" cy="8712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0"/>
              </a:spcAft>
              <a:buSzPts val="935"/>
              <a:buNone/>
            </a:pPr>
            <a:r>
              <a:rPr lang="en" sz="1380">
                <a:solidFill>
                  <a:schemeClr val="lt1"/>
                </a:solidFill>
              </a:rPr>
              <a:t>Team members: Anna St. Clair, Mary Chen, Monica Zhang, </a:t>
            </a:r>
            <a:endParaRPr sz="1380">
              <a:solidFill>
                <a:schemeClr val="lt1"/>
              </a:solidFill>
            </a:endParaRPr>
          </a:p>
          <a:p>
            <a:pPr indent="457200" lvl="0" marL="2743200" rtl="0" algn="l">
              <a:lnSpc>
                <a:spcPct val="90000"/>
              </a:lnSpc>
              <a:spcBef>
                <a:spcPts val="0"/>
              </a:spcBef>
              <a:spcAft>
                <a:spcPts val="0"/>
              </a:spcAft>
              <a:buSzPts val="935"/>
              <a:buNone/>
            </a:pPr>
            <a:r>
              <a:rPr lang="en" sz="1380">
                <a:solidFill>
                  <a:schemeClr val="lt1"/>
                </a:solidFill>
              </a:rPr>
              <a:t>Martin Liu, Simon Lin</a:t>
            </a:r>
            <a:endParaRPr sz="138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p:cNvPicPr preferRelativeResize="0"/>
          <p:nvPr/>
        </p:nvPicPr>
        <p:blipFill>
          <a:blip r:embed="rId3">
            <a:alphaModFix/>
          </a:blip>
          <a:stretch>
            <a:fillRect/>
          </a:stretch>
        </p:blipFill>
        <p:spPr>
          <a:xfrm>
            <a:off x="0" y="0"/>
            <a:ext cx="1362801" cy="1362801"/>
          </a:xfrm>
          <a:prstGeom prst="rect">
            <a:avLst/>
          </a:prstGeom>
          <a:noFill/>
          <a:ln>
            <a:noFill/>
          </a:ln>
        </p:spPr>
      </p:pic>
      <p:pic>
        <p:nvPicPr>
          <p:cNvPr id="66" name="Google Shape;66;p14"/>
          <p:cNvPicPr preferRelativeResize="0"/>
          <p:nvPr/>
        </p:nvPicPr>
        <p:blipFill>
          <a:blip r:embed="rId4">
            <a:alphaModFix/>
          </a:blip>
          <a:stretch>
            <a:fillRect/>
          </a:stretch>
        </p:blipFill>
        <p:spPr>
          <a:xfrm>
            <a:off x="7295575" y="3193126"/>
            <a:ext cx="1848425" cy="1848425"/>
          </a:xfrm>
          <a:prstGeom prst="rect">
            <a:avLst/>
          </a:prstGeom>
          <a:noFill/>
          <a:ln>
            <a:noFill/>
          </a:ln>
        </p:spPr>
      </p:pic>
      <p:sp>
        <p:nvSpPr>
          <p:cNvPr id="67" name="Google Shape;67;p14"/>
          <p:cNvSpPr/>
          <p:nvPr/>
        </p:nvSpPr>
        <p:spPr>
          <a:xfrm>
            <a:off x="1319375" y="1020450"/>
            <a:ext cx="6874953" cy="3401610"/>
          </a:xfrm>
          <a:custGeom>
            <a:rect b="b" l="l" r="r" t="t"/>
            <a:pathLst>
              <a:path extrusionOk="0" h="134824" w="267586">
                <a:moveTo>
                  <a:pt x="0" y="0"/>
                </a:moveTo>
                <a:lnTo>
                  <a:pt x="13194" y="38757"/>
                </a:lnTo>
                <a:lnTo>
                  <a:pt x="74215" y="27624"/>
                </a:lnTo>
                <a:lnTo>
                  <a:pt x="98129" y="75864"/>
                </a:lnTo>
                <a:lnTo>
                  <a:pt x="162861" y="69267"/>
                </a:lnTo>
                <a:lnTo>
                  <a:pt x="183064" y="116270"/>
                </a:lnTo>
                <a:lnTo>
                  <a:pt x="228830" y="105962"/>
                </a:lnTo>
                <a:lnTo>
                  <a:pt x="252331" y="134824"/>
                </a:lnTo>
                <a:lnTo>
                  <a:pt x="267586" y="128639"/>
                </a:lnTo>
              </a:path>
            </a:pathLst>
          </a:custGeom>
          <a:noFill/>
          <a:ln cap="flat" cmpd="sng" w="38100">
            <a:solidFill>
              <a:srgbClr val="EFB4B4"/>
            </a:solidFill>
            <a:prstDash val="solid"/>
            <a:round/>
            <a:headEnd len="med" w="med" type="none"/>
            <a:tailEnd len="med" w="med" type="triangle"/>
          </a:ln>
          <a:effectLst>
            <a:outerShdw blurRad="57150" rotWithShape="0" algn="bl" dir="5400000" dist="19050">
              <a:srgbClr val="000000">
                <a:alpha val="50000"/>
              </a:srgbClr>
            </a:outerShdw>
          </a:effectLst>
        </p:spPr>
      </p:sp>
      <p:sp>
        <p:nvSpPr>
          <p:cNvPr id="68" name="Google Shape;68;p14"/>
          <p:cNvSpPr/>
          <p:nvPr/>
        </p:nvSpPr>
        <p:spPr>
          <a:xfrm>
            <a:off x="1183150" y="1296525"/>
            <a:ext cx="6874953" cy="3401610"/>
          </a:xfrm>
          <a:custGeom>
            <a:rect b="b" l="l" r="r" t="t"/>
            <a:pathLst>
              <a:path extrusionOk="0" h="134824" w="267586">
                <a:moveTo>
                  <a:pt x="0" y="0"/>
                </a:moveTo>
                <a:lnTo>
                  <a:pt x="13194" y="38757"/>
                </a:lnTo>
                <a:lnTo>
                  <a:pt x="74215" y="27624"/>
                </a:lnTo>
                <a:lnTo>
                  <a:pt x="98129" y="75864"/>
                </a:lnTo>
                <a:lnTo>
                  <a:pt x="162861" y="69267"/>
                </a:lnTo>
                <a:lnTo>
                  <a:pt x="183064" y="116270"/>
                </a:lnTo>
                <a:lnTo>
                  <a:pt x="228830" y="105962"/>
                </a:lnTo>
                <a:lnTo>
                  <a:pt x="252331" y="134824"/>
                </a:lnTo>
                <a:lnTo>
                  <a:pt x="267586" y="128639"/>
                </a:lnTo>
              </a:path>
            </a:pathLst>
          </a:custGeom>
          <a:noFill/>
          <a:ln cap="flat" cmpd="sng" w="38100">
            <a:solidFill>
              <a:srgbClr val="EFB4B4"/>
            </a:solidFill>
            <a:prstDash val="solid"/>
            <a:round/>
            <a:headEnd len="med" w="med" type="triangle"/>
            <a:tailEnd len="med" w="med" type="none"/>
          </a:ln>
        </p:spPr>
      </p:sp>
      <p:pic>
        <p:nvPicPr>
          <p:cNvPr id="69" name="Google Shape;69;p14"/>
          <p:cNvPicPr preferRelativeResize="0"/>
          <p:nvPr/>
        </p:nvPicPr>
        <p:blipFill>
          <a:blip r:embed="rId5">
            <a:alphaModFix/>
          </a:blip>
          <a:stretch>
            <a:fillRect/>
          </a:stretch>
        </p:blipFill>
        <p:spPr>
          <a:xfrm rot="732059">
            <a:off x="3564665" y="267641"/>
            <a:ext cx="1306897" cy="1306917"/>
          </a:xfrm>
          <a:prstGeom prst="rect">
            <a:avLst/>
          </a:prstGeom>
          <a:noFill/>
          <a:ln>
            <a:noFill/>
          </a:ln>
        </p:spPr>
      </p:pic>
      <p:pic>
        <p:nvPicPr>
          <p:cNvPr id="70" name="Google Shape;70;p14"/>
          <p:cNvPicPr preferRelativeResize="0"/>
          <p:nvPr/>
        </p:nvPicPr>
        <p:blipFill>
          <a:blip r:embed="rId6">
            <a:alphaModFix/>
          </a:blip>
          <a:stretch>
            <a:fillRect/>
          </a:stretch>
        </p:blipFill>
        <p:spPr>
          <a:xfrm rot="1601376">
            <a:off x="7127472" y="1792972"/>
            <a:ext cx="1036433" cy="1036433"/>
          </a:xfrm>
          <a:prstGeom prst="rect">
            <a:avLst/>
          </a:prstGeom>
          <a:noFill/>
          <a:ln>
            <a:noFill/>
          </a:ln>
        </p:spPr>
      </p:pic>
      <p:pic>
        <p:nvPicPr>
          <p:cNvPr id="71" name="Google Shape;71;p14"/>
          <p:cNvPicPr preferRelativeResize="0"/>
          <p:nvPr/>
        </p:nvPicPr>
        <p:blipFill>
          <a:blip r:embed="rId7">
            <a:alphaModFix/>
          </a:blip>
          <a:stretch>
            <a:fillRect/>
          </a:stretch>
        </p:blipFill>
        <p:spPr>
          <a:xfrm rot="1466553">
            <a:off x="3035215" y="3374089"/>
            <a:ext cx="1116521" cy="1116521"/>
          </a:xfrm>
          <a:prstGeom prst="rect">
            <a:avLst/>
          </a:prstGeom>
          <a:noFill/>
          <a:ln>
            <a:noFill/>
          </a:ln>
        </p:spPr>
      </p:pic>
      <p:pic>
        <p:nvPicPr>
          <p:cNvPr id="72" name="Google Shape;72;p14"/>
          <p:cNvPicPr preferRelativeResize="0"/>
          <p:nvPr/>
        </p:nvPicPr>
        <p:blipFill>
          <a:blip r:embed="rId8">
            <a:alphaModFix/>
          </a:blip>
          <a:stretch>
            <a:fillRect/>
          </a:stretch>
        </p:blipFill>
        <p:spPr>
          <a:xfrm rot="-1135949">
            <a:off x="5202931" y="352333"/>
            <a:ext cx="1538960" cy="1538960"/>
          </a:xfrm>
          <a:prstGeom prst="rect">
            <a:avLst/>
          </a:prstGeom>
          <a:noFill/>
          <a:ln>
            <a:noFill/>
          </a:ln>
        </p:spPr>
      </p:pic>
      <p:pic>
        <p:nvPicPr>
          <p:cNvPr id="73" name="Google Shape;73;p14"/>
          <p:cNvPicPr preferRelativeResize="0"/>
          <p:nvPr/>
        </p:nvPicPr>
        <p:blipFill>
          <a:blip r:embed="rId9">
            <a:alphaModFix/>
          </a:blip>
          <a:stretch>
            <a:fillRect/>
          </a:stretch>
        </p:blipFill>
        <p:spPr>
          <a:xfrm rot="-1112870">
            <a:off x="70200" y="1883075"/>
            <a:ext cx="1391525" cy="1391525"/>
          </a:xfrm>
          <a:prstGeom prst="rect">
            <a:avLst/>
          </a:prstGeom>
          <a:noFill/>
          <a:ln>
            <a:noFill/>
          </a:ln>
        </p:spPr>
      </p:pic>
      <p:pic>
        <p:nvPicPr>
          <p:cNvPr id="74" name="Google Shape;74;p14"/>
          <p:cNvPicPr preferRelativeResize="0"/>
          <p:nvPr/>
        </p:nvPicPr>
        <p:blipFill>
          <a:blip r:embed="rId10">
            <a:alphaModFix/>
          </a:blip>
          <a:stretch>
            <a:fillRect/>
          </a:stretch>
        </p:blipFill>
        <p:spPr>
          <a:xfrm rot="1669395">
            <a:off x="4497575" y="3647815"/>
            <a:ext cx="939043" cy="939043"/>
          </a:xfrm>
          <a:prstGeom prst="rect">
            <a:avLst/>
          </a:prstGeom>
          <a:noFill/>
          <a:ln>
            <a:noFill/>
          </a:ln>
        </p:spPr>
      </p:pic>
      <p:sp>
        <p:nvSpPr>
          <p:cNvPr id="75" name="Google Shape;75;p14"/>
          <p:cNvSpPr txBox="1"/>
          <p:nvPr/>
        </p:nvSpPr>
        <p:spPr>
          <a:xfrm rot="-1130871">
            <a:off x="5610908" y="1654884"/>
            <a:ext cx="1869334" cy="36923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My Prayer Room</a:t>
            </a:r>
            <a:endParaRPr sz="1200">
              <a:solidFill>
                <a:schemeClr val="dk1"/>
              </a:solidFill>
              <a:latin typeface="Times New Roman"/>
              <a:ea typeface="Times New Roman"/>
              <a:cs typeface="Times New Roman"/>
              <a:sym typeface="Times New Roman"/>
            </a:endParaRPr>
          </a:p>
        </p:txBody>
      </p:sp>
      <p:sp>
        <p:nvSpPr>
          <p:cNvPr id="76" name="Google Shape;76;p14"/>
          <p:cNvSpPr txBox="1"/>
          <p:nvPr/>
        </p:nvSpPr>
        <p:spPr>
          <a:xfrm rot="1663516">
            <a:off x="6830253" y="2812605"/>
            <a:ext cx="1106544" cy="36943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WhatsApp</a:t>
            </a:r>
            <a:endParaRPr sz="1200">
              <a:solidFill>
                <a:schemeClr val="dk1"/>
              </a:solidFill>
              <a:latin typeface="Times New Roman"/>
              <a:ea typeface="Times New Roman"/>
              <a:cs typeface="Times New Roman"/>
              <a:sym typeface="Times New Roman"/>
            </a:endParaRPr>
          </a:p>
        </p:txBody>
      </p:sp>
      <p:sp>
        <p:nvSpPr>
          <p:cNvPr id="77" name="Google Shape;77;p14"/>
          <p:cNvSpPr txBox="1"/>
          <p:nvPr/>
        </p:nvSpPr>
        <p:spPr>
          <a:xfrm rot="676220">
            <a:off x="3466802" y="1625500"/>
            <a:ext cx="1106742" cy="369247"/>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Days Matter</a:t>
            </a:r>
            <a:endParaRPr sz="1200">
              <a:solidFill>
                <a:schemeClr val="dk1"/>
              </a:solidFill>
              <a:latin typeface="Times New Roman"/>
              <a:ea typeface="Times New Roman"/>
              <a:cs typeface="Times New Roman"/>
              <a:sym typeface="Times New Roman"/>
            </a:endParaRPr>
          </a:p>
        </p:txBody>
      </p:sp>
      <p:sp>
        <p:nvSpPr>
          <p:cNvPr id="78" name="Google Shape;78;p14"/>
          <p:cNvSpPr txBox="1"/>
          <p:nvPr/>
        </p:nvSpPr>
        <p:spPr>
          <a:xfrm rot="1060">
            <a:off x="1461237" y="4270850"/>
            <a:ext cx="972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Messenger</a:t>
            </a:r>
            <a:endParaRPr sz="1200">
              <a:solidFill>
                <a:schemeClr val="dk1"/>
              </a:solidFill>
              <a:latin typeface="Times New Roman"/>
              <a:ea typeface="Times New Roman"/>
              <a:cs typeface="Times New Roman"/>
              <a:sym typeface="Times New Roman"/>
            </a:endParaRPr>
          </a:p>
        </p:txBody>
      </p:sp>
      <p:sp>
        <p:nvSpPr>
          <p:cNvPr id="79" name="Google Shape;79;p14"/>
          <p:cNvSpPr txBox="1"/>
          <p:nvPr/>
        </p:nvSpPr>
        <p:spPr>
          <a:xfrm rot="1439263">
            <a:off x="2734219" y="4479724"/>
            <a:ext cx="1106900" cy="36945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TO-DO</a:t>
            </a:r>
            <a:endParaRPr sz="1200">
              <a:solidFill>
                <a:schemeClr val="dk1"/>
              </a:solidFill>
              <a:latin typeface="Times New Roman"/>
              <a:ea typeface="Times New Roman"/>
              <a:cs typeface="Times New Roman"/>
              <a:sym typeface="Times New Roman"/>
            </a:endParaRPr>
          </a:p>
        </p:txBody>
      </p:sp>
      <p:sp>
        <p:nvSpPr>
          <p:cNvPr id="80" name="Google Shape;80;p14"/>
          <p:cNvSpPr txBox="1"/>
          <p:nvPr/>
        </p:nvSpPr>
        <p:spPr>
          <a:xfrm rot="1775419">
            <a:off x="3980478" y="4617734"/>
            <a:ext cx="1682885" cy="36946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Google Calendar</a:t>
            </a:r>
            <a:endParaRPr sz="1200">
              <a:solidFill>
                <a:schemeClr val="dk1"/>
              </a:solidFill>
              <a:latin typeface="Times New Roman"/>
              <a:ea typeface="Times New Roman"/>
              <a:cs typeface="Times New Roman"/>
              <a:sym typeface="Times New Roman"/>
            </a:endParaRPr>
          </a:p>
        </p:txBody>
      </p:sp>
      <p:sp>
        <p:nvSpPr>
          <p:cNvPr id="81" name="Google Shape;81;p14"/>
          <p:cNvSpPr txBox="1"/>
          <p:nvPr/>
        </p:nvSpPr>
        <p:spPr>
          <a:xfrm rot="-1045688">
            <a:off x="510155" y="3259513"/>
            <a:ext cx="1106810" cy="36947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Photos</a:t>
            </a:r>
            <a:endParaRPr sz="1200">
              <a:solidFill>
                <a:schemeClr val="dk1"/>
              </a:solidFill>
              <a:latin typeface="Times New Roman"/>
              <a:ea typeface="Times New Roman"/>
              <a:cs typeface="Times New Roman"/>
              <a:sym typeface="Times New Roman"/>
            </a:endParaRPr>
          </a:p>
        </p:txBody>
      </p:sp>
      <p:sp>
        <p:nvSpPr>
          <p:cNvPr id="82" name="Google Shape;82;p14"/>
          <p:cNvSpPr txBox="1"/>
          <p:nvPr/>
        </p:nvSpPr>
        <p:spPr>
          <a:xfrm rot="-1898">
            <a:off x="409758" y="1296666"/>
            <a:ext cx="543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Sarah</a:t>
            </a:r>
            <a:endParaRPr sz="1200">
              <a:solidFill>
                <a:schemeClr val="dk1"/>
              </a:solidFill>
              <a:latin typeface="Times New Roman"/>
              <a:ea typeface="Times New Roman"/>
              <a:cs typeface="Times New Roman"/>
              <a:sym typeface="Times New Roman"/>
            </a:endParaRPr>
          </a:p>
        </p:txBody>
      </p:sp>
      <p:sp>
        <p:nvSpPr>
          <p:cNvPr id="83" name="Google Shape;83;p14"/>
          <p:cNvSpPr txBox="1"/>
          <p:nvPr/>
        </p:nvSpPr>
        <p:spPr>
          <a:xfrm rot="-1777">
            <a:off x="8238658" y="3102394"/>
            <a:ext cx="580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David</a:t>
            </a:r>
            <a:endParaRPr sz="1200">
              <a:solidFill>
                <a:schemeClr val="dk1"/>
              </a:solidFill>
              <a:latin typeface="Times New Roman"/>
              <a:ea typeface="Times New Roman"/>
              <a:cs typeface="Times New Roman"/>
              <a:sym typeface="Times New Roman"/>
            </a:endParaRPr>
          </a:p>
        </p:txBody>
      </p:sp>
      <p:pic>
        <p:nvPicPr>
          <p:cNvPr id="84" name="Google Shape;84;p14"/>
          <p:cNvPicPr preferRelativeResize="0"/>
          <p:nvPr/>
        </p:nvPicPr>
        <p:blipFill>
          <a:blip r:embed="rId11">
            <a:alphaModFix/>
          </a:blip>
          <a:stretch>
            <a:fillRect/>
          </a:stretch>
        </p:blipFill>
        <p:spPr>
          <a:xfrm>
            <a:off x="1428388" y="3232125"/>
            <a:ext cx="1038575" cy="1038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2165703" y="421350"/>
            <a:ext cx="4812600" cy="976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Vision</a:t>
            </a:r>
            <a:endParaRPr b="1"/>
          </a:p>
        </p:txBody>
      </p:sp>
      <p:sp>
        <p:nvSpPr>
          <p:cNvPr id="90" name="Google Shape;90;p15"/>
          <p:cNvSpPr txBox="1"/>
          <p:nvPr>
            <p:ph idx="1" type="body"/>
          </p:nvPr>
        </p:nvSpPr>
        <p:spPr>
          <a:xfrm>
            <a:off x="573900" y="1897200"/>
            <a:ext cx="7996200" cy="254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latin typeface="Times New Roman"/>
                <a:ea typeface="Times New Roman"/>
                <a:cs typeface="Times New Roman"/>
                <a:sym typeface="Times New Roman"/>
              </a:rPr>
              <a:t>CoupleBond </a:t>
            </a:r>
            <a:r>
              <a:rPr lang="en">
                <a:latin typeface="Times New Roman"/>
                <a:ea typeface="Times New Roman"/>
                <a:cs typeface="Times New Roman"/>
                <a:sym typeface="Times New Roman"/>
              </a:rPr>
              <a:t>is a</a:t>
            </a:r>
            <a:r>
              <a:rPr lang="en">
                <a:latin typeface="Times New Roman"/>
                <a:ea typeface="Times New Roman"/>
                <a:cs typeface="Times New Roman"/>
                <a:sym typeface="Times New Roman"/>
              </a:rPr>
              <a:t> private mobile app that helps Christian couples organize life, grow spiritually, and celebrate their God-given journey—together.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3830550" y="1308475"/>
            <a:ext cx="1482900" cy="56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00">
                <a:latin typeface="Times New Roman"/>
                <a:ea typeface="Times New Roman"/>
                <a:cs typeface="Times New Roman"/>
                <a:sym typeface="Times New Roman"/>
              </a:rPr>
              <a:t>Demo</a:t>
            </a:r>
            <a:endParaRPr sz="29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3830550" y="305850"/>
            <a:ext cx="1482900" cy="56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900">
                <a:latin typeface="Times New Roman"/>
                <a:ea typeface="Times New Roman"/>
                <a:cs typeface="Times New Roman"/>
                <a:sym typeface="Times New Roman"/>
              </a:rPr>
              <a:t>Design</a:t>
            </a:r>
            <a:endParaRPr sz="2900">
              <a:latin typeface="Times New Roman"/>
              <a:ea typeface="Times New Roman"/>
              <a:cs typeface="Times New Roman"/>
              <a:sym typeface="Times New Roman"/>
            </a:endParaRPr>
          </a:p>
        </p:txBody>
      </p:sp>
      <p:pic>
        <p:nvPicPr>
          <p:cNvPr id="101" name="Google Shape;101;p17"/>
          <p:cNvPicPr preferRelativeResize="0"/>
          <p:nvPr/>
        </p:nvPicPr>
        <p:blipFill>
          <a:blip r:embed="rId3">
            <a:alphaModFix/>
          </a:blip>
          <a:stretch>
            <a:fillRect/>
          </a:stretch>
        </p:blipFill>
        <p:spPr>
          <a:xfrm>
            <a:off x="2024974" y="1018475"/>
            <a:ext cx="5094050" cy="3728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3830550" y="305850"/>
            <a:ext cx="1482900" cy="56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900">
                <a:latin typeface="Times New Roman"/>
                <a:ea typeface="Times New Roman"/>
                <a:cs typeface="Times New Roman"/>
                <a:sym typeface="Times New Roman"/>
              </a:rPr>
              <a:t>Design</a:t>
            </a:r>
            <a:endParaRPr sz="2900">
              <a:latin typeface="Times New Roman"/>
              <a:ea typeface="Times New Roman"/>
              <a:cs typeface="Times New Roman"/>
              <a:sym typeface="Times New Roman"/>
            </a:endParaRPr>
          </a:p>
        </p:txBody>
      </p:sp>
      <p:sp>
        <p:nvSpPr>
          <p:cNvPr id="107" name="Google Shape;107;p18"/>
          <p:cNvSpPr txBox="1"/>
          <p:nvPr/>
        </p:nvSpPr>
        <p:spPr>
          <a:xfrm>
            <a:off x="527000" y="1232700"/>
            <a:ext cx="6071100" cy="3232500"/>
          </a:xfrm>
          <a:prstGeom prst="rect">
            <a:avLst/>
          </a:prstGeom>
          <a:noFill/>
          <a:ln>
            <a:noFill/>
          </a:ln>
        </p:spPr>
        <p:txBody>
          <a:bodyPr anchorCtr="0" anchor="t" bIns="91425" lIns="91425" spcFirstLastPara="1" rIns="91425" wrap="square" tIns="91425">
            <a:spAutoFit/>
          </a:bodyPr>
          <a:lstStyle/>
          <a:p>
            <a:pPr indent="-368300" lvl="0" marL="457200" rtl="0" algn="l">
              <a:lnSpc>
                <a:spcPct val="200000"/>
              </a:lnSpc>
              <a:spcBef>
                <a:spcPts val="0"/>
              </a:spcBef>
              <a:spcAft>
                <a:spcPts val="0"/>
              </a:spcAft>
              <a:buClr>
                <a:schemeClr val="dk1"/>
              </a:buClr>
              <a:buSzPts val="2200"/>
              <a:buFont typeface="Old Standard TT"/>
              <a:buChar char="-"/>
            </a:pPr>
            <a:r>
              <a:rPr lang="en" sz="2200">
                <a:solidFill>
                  <a:schemeClr val="dk1"/>
                </a:solidFill>
                <a:latin typeface="Old Standard TT"/>
                <a:ea typeface="Old Standard TT"/>
                <a:cs typeface="Old Standard TT"/>
                <a:sym typeface="Old Standard TT"/>
              </a:rPr>
              <a:t>Emoji Placement</a:t>
            </a:r>
            <a:endParaRPr sz="2200">
              <a:solidFill>
                <a:schemeClr val="dk1"/>
              </a:solidFill>
              <a:latin typeface="Old Standard TT"/>
              <a:ea typeface="Old Standard TT"/>
              <a:cs typeface="Old Standard TT"/>
              <a:sym typeface="Old Standard TT"/>
            </a:endParaRPr>
          </a:p>
          <a:p>
            <a:pPr indent="-368300" lvl="0" marL="457200" rtl="0" algn="l">
              <a:lnSpc>
                <a:spcPct val="200000"/>
              </a:lnSpc>
              <a:spcBef>
                <a:spcPts val="0"/>
              </a:spcBef>
              <a:spcAft>
                <a:spcPts val="0"/>
              </a:spcAft>
              <a:buClr>
                <a:schemeClr val="dk1"/>
              </a:buClr>
              <a:buSzPts val="2200"/>
              <a:buFont typeface="Old Standard TT"/>
              <a:buChar char="-"/>
            </a:pPr>
            <a:r>
              <a:rPr lang="en" sz="2200">
                <a:solidFill>
                  <a:schemeClr val="dk1"/>
                </a:solidFill>
                <a:latin typeface="Old Standard TT"/>
                <a:ea typeface="Old Standard TT"/>
                <a:cs typeface="Old Standard TT"/>
                <a:sym typeface="Old Standard TT"/>
              </a:rPr>
              <a:t>Photo Collage Usage</a:t>
            </a:r>
            <a:endParaRPr sz="2200">
              <a:solidFill>
                <a:schemeClr val="dk1"/>
              </a:solidFill>
              <a:latin typeface="Old Standard TT"/>
              <a:ea typeface="Old Standard TT"/>
              <a:cs typeface="Old Standard TT"/>
              <a:sym typeface="Old Standard TT"/>
            </a:endParaRPr>
          </a:p>
          <a:p>
            <a:pPr indent="-368300" lvl="0" marL="457200" rtl="0" algn="l">
              <a:lnSpc>
                <a:spcPct val="200000"/>
              </a:lnSpc>
              <a:spcBef>
                <a:spcPts val="0"/>
              </a:spcBef>
              <a:spcAft>
                <a:spcPts val="0"/>
              </a:spcAft>
              <a:buClr>
                <a:schemeClr val="dk1"/>
              </a:buClr>
              <a:buSzPts val="2200"/>
              <a:buFont typeface="Old Standard TT"/>
              <a:buChar char="-"/>
            </a:pPr>
            <a:r>
              <a:rPr lang="en" sz="2200">
                <a:solidFill>
                  <a:schemeClr val="dk1"/>
                </a:solidFill>
                <a:latin typeface="Old Standard TT"/>
                <a:ea typeface="Old Standard TT"/>
                <a:cs typeface="Old Standard TT"/>
                <a:sym typeface="Old Standard TT"/>
              </a:rPr>
              <a:t>Calendar Implementation</a:t>
            </a:r>
            <a:endParaRPr sz="2200">
              <a:solidFill>
                <a:schemeClr val="dk1"/>
              </a:solidFill>
              <a:latin typeface="Old Standard TT"/>
              <a:ea typeface="Old Standard TT"/>
              <a:cs typeface="Old Standard TT"/>
              <a:sym typeface="Old Standard TT"/>
            </a:endParaRPr>
          </a:p>
          <a:p>
            <a:pPr indent="-368300" lvl="0" marL="457200" rtl="0" algn="l">
              <a:lnSpc>
                <a:spcPct val="200000"/>
              </a:lnSpc>
              <a:spcBef>
                <a:spcPts val="0"/>
              </a:spcBef>
              <a:spcAft>
                <a:spcPts val="0"/>
              </a:spcAft>
              <a:buClr>
                <a:schemeClr val="dk1"/>
              </a:buClr>
              <a:buSzPts val="2200"/>
              <a:buFont typeface="Old Standard TT"/>
              <a:buChar char="-"/>
            </a:pPr>
            <a:r>
              <a:rPr lang="en" sz="2200">
                <a:solidFill>
                  <a:schemeClr val="dk1"/>
                </a:solidFill>
                <a:latin typeface="Old Standard TT"/>
                <a:ea typeface="Old Standard TT"/>
                <a:cs typeface="Old Standard TT"/>
                <a:sym typeface="Old Standard TT"/>
              </a:rPr>
              <a:t>Unmatch Location</a:t>
            </a:r>
            <a:endParaRPr sz="2200">
              <a:solidFill>
                <a:schemeClr val="dk1"/>
              </a:solidFill>
              <a:latin typeface="Old Standard TT"/>
              <a:ea typeface="Old Standard TT"/>
              <a:cs typeface="Old Standard TT"/>
              <a:sym typeface="Old Standard TT"/>
            </a:endParaRPr>
          </a:p>
          <a:p>
            <a:pPr indent="-368300" lvl="0" marL="457200" rtl="0" algn="l">
              <a:lnSpc>
                <a:spcPct val="200000"/>
              </a:lnSpc>
              <a:spcBef>
                <a:spcPts val="0"/>
              </a:spcBef>
              <a:spcAft>
                <a:spcPts val="0"/>
              </a:spcAft>
              <a:buClr>
                <a:schemeClr val="dk1"/>
              </a:buClr>
              <a:buSzPts val="2200"/>
              <a:buFont typeface="Old Standard TT"/>
              <a:buChar char="-"/>
            </a:pPr>
            <a:r>
              <a:rPr lang="en" sz="2200">
                <a:solidFill>
                  <a:schemeClr val="dk1"/>
                </a:solidFill>
                <a:latin typeface="Old Standard TT"/>
                <a:ea typeface="Old Standard TT"/>
                <a:cs typeface="Old Standard TT"/>
                <a:sym typeface="Old Standard TT"/>
              </a:rPr>
              <a:t>Help Page</a:t>
            </a:r>
            <a:endParaRPr sz="2200">
              <a:solidFill>
                <a:schemeClr val="dk1"/>
              </a:solidFill>
              <a:latin typeface="Old Standard TT"/>
              <a:ea typeface="Old Standard TT"/>
              <a:cs typeface="Old Standard TT"/>
              <a:sym typeface="Old Standard T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900"/>
              <a:t>Assessment</a:t>
            </a:r>
            <a:endParaRPr sz="2900"/>
          </a:p>
        </p:txBody>
      </p:sp>
      <p:sp>
        <p:nvSpPr>
          <p:cNvPr id="113" name="Google Shape;113;p1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68300" lvl="0" marL="457200" rtl="0" algn="l">
              <a:lnSpc>
                <a:spcPct val="200000"/>
              </a:lnSpc>
              <a:spcBef>
                <a:spcPts val="0"/>
              </a:spcBef>
              <a:spcAft>
                <a:spcPts val="0"/>
              </a:spcAft>
              <a:buSzPts val="2200"/>
              <a:buChar char="●"/>
            </a:pPr>
            <a:r>
              <a:rPr lang="en" sz="2200" u="sng"/>
              <a:t>Overall</a:t>
            </a:r>
            <a:r>
              <a:rPr lang="en" sz="2200"/>
              <a:t>: </a:t>
            </a:r>
            <a:r>
              <a:rPr b="1" lang="en" sz="2200"/>
              <a:t>great </a:t>
            </a:r>
            <a:r>
              <a:rPr lang="en" sz="2200"/>
              <a:t>faith and activity functionality</a:t>
            </a:r>
            <a:endParaRPr sz="2200"/>
          </a:p>
          <a:p>
            <a:pPr indent="-368300" lvl="0" marL="457200" rtl="0" algn="l">
              <a:lnSpc>
                <a:spcPct val="200000"/>
              </a:lnSpc>
              <a:spcBef>
                <a:spcPts val="0"/>
              </a:spcBef>
              <a:spcAft>
                <a:spcPts val="0"/>
              </a:spcAft>
              <a:buSzPts val="2200"/>
              <a:buChar char="●"/>
            </a:pPr>
            <a:r>
              <a:rPr lang="en" sz="2200" u="sng"/>
              <a:t>Strengths</a:t>
            </a:r>
            <a:r>
              <a:rPr lang="en" sz="2200"/>
              <a:t>: devotion (Calend</a:t>
            </a:r>
            <a:r>
              <a:rPr lang="en" sz="2200"/>
              <a:t>ar, Daily Bread)</a:t>
            </a:r>
            <a:endParaRPr sz="2200"/>
          </a:p>
          <a:p>
            <a:pPr indent="-368300" lvl="0" marL="457200" rtl="0" algn="l">
              <a:lnSpc>
                <a:spcPct val="200000"/>
              </a:lnSpc>
              <a:spcBef>
                <a:spcPts val="0"/>
              </a:spcBef>
              <a:spcAft>
                <a:spcPts val="0"/>
              </a:spcAft>
              <a:buSzPts val="2200"/>
              <a:buChar char="●"/>
            </a:pPr>
            <a:r>
              <a:rPr lang="en" sz="2200" u="sng"/>
              <a:t>Weaknesses</a:t>
            </a:r>
            <a:r>
              <a:rPr lang="en" sz="2200"/>
              <a:t>: “digitalizes” relationships</a:t>
            </a:r>
            <a:endParaRPr sz="2200"/>
          </a:p>
          <a:p>
            <a:pPr indent="-368300" lvl="0" marL="457200" rtl="0" algn="l">
              <a:lnSpc>
                <a:spcPct val="200000"/>
              </a:lnSpc>
              <a:spcBef>
                <a:spcPts val="0"/>
              </a:spcBef>
              <a:spcAft>
                <a:spcPts val="0"/>
              </a:spcAft>
              <a:buSzPts val="2200"/>
              <a:buChar char="●"/>
            </a:pPr>
            <a:r>
              <a:rPr lang="en" sz="2200" u="sng"/>
              <a:t>What’s next</a:t>
            </a:r>
            <a:r>
              <a:rPr lang="en" sz="2200"/>
              <a:t>? Sarah and David continue their relationship!</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2477100" y="1446125"/>
            <a:ext cx="4189800" cy="87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Thank you for listening!</a:t>
            </a:r>
            <a:endParaRPr/>
          </a:p>
        </p:txBody>
      </p:sp>
      <p:sp>
        <p:nvSpPr>
          <p:cNvPr id="119" name="Google Shape;119;p20"/>
          <p:cNvSpPr txBox="1"/>
          <p:nvPr/>
        </p:nvSpPr>
        <p:spPr>
          <a:xfrm>
            <a:off x="1938600" y="2110050"/>
            <a:ext cx="52668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800">
                <a:solidFill>
                  <a:schemeClr val="dk1"/>
                </a:solidFill>
                <a:latin typeface="Old Standard TT"/>
                <a:ea typeface="Old Standard TT"/>
                <a:cs typeface="Old Standard TT"/>
                <a:sym typeface="Old Standard TT"/>
              </a:rPr>
              <a:t>Q&amp;A</a:t>
            </a:r>
            <a:endParaRPr sz="4800">
              <a:solidFill>
                <a:schemeClr val="dk1"/>
              </a:solidFill>
              <a:latin typeface="Old Standard TT"/>
              <a:ea typeface="Old Standard TT"/>
              <a:cs typeface="Old Standard TT"/>
              <a:sym typeface="Old Standard TT"/>
            </a:endParaRPr>
          </a:p>
        </p:txBody>
      </p:sp>
      <p:sp>
        <p:nvSpPr>
          <p:cNvPr id="120" name="Google Shape;120;p20"/>
          <p:cNvSpPr txBox="1"/>
          <p:nvPr/>
        </p:nvSpPr>
        <p:spPr>
          <a:xfrm>
            <a:off x="1938600" y="3033450"/>
            <a:ext cx="5266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Old Standard TT"/>
                <a:ea typeface="Old Standard TT"/>
                <a:cs typeface="Old Standard TT"/>
                <a:sym typeface="Old Standard TT"/>
              </a:rPr>
              <a:t>Do </a:t>
            </a:r>
            <a:r>
              <a:rPr lang="en" sz="1800">
                <a:solidFill>
                  <a:schemeClr val="dk1"/>
                </a:solidFill>
                <a:latin typeface="Old Standard TT"/>
                <a:ea typeface="Old Standard TT"/>
                <a:cs typeface="Old Standard TT"/>
                <a:sym typeface="Old Standard TT"/>
              </a:rPr>
              <a:t>you</a:t>
            </a:r>
            <a:r>
              <a:rPr lang="en" sz="1800">
                <a:solidFill>
                  <a:schemeClr val="dk1"/>
                </a:solidFill>
                <a:latin typeface="Old Standard TT"/>
                <a:ea typeface="Old Standard TT"/>
                <a:cs typeface="Old Standard TT"/>
                <a:sym typeface="Old Standard TT"/>
              </a:rPr>
              <a:t> have any questions?</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