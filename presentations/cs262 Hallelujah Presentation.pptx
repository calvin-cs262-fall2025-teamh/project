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Old Standard TT"/>
      <p:regular r:id="rId13"/>
      <p:bold r:id="rId14"/>
      <p: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OldStandardTT-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ldStandardTT-italic.fntdata"/><Relationship Id="rId14" Type="http://schemas.openxmlformats.org/officeDocument/2006/relationships/font" Target="fonts/OldStandardTT-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996574b50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996574b5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Meet Sarah and David—a Calvin couple trying to honor God in their relationship. Between classes, chapel service, projects, and part-time jobs, life gets overwhelming. Their memories are scattered across multiple apps. They want to pray together regularly, but their prayer intentions get lost is the business of life. They've missed anniversaries and lost track of spiritual growth. Couples today juggle too many apps — Photos, Days Matter, Prayer apps, Messengert, Google Calendar, WhatsApp… everything is scattered across different places. They need ONE place that understands their relationship AND their faith—not just another generic app."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2ed73d68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2ed73d68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Martin </a:t>
            </a:r>
            <a:endParaRPr sz="1050">
              <a:solidFill>
                <a:srgbClr val="CCCCCC"/>
              </a:solidFill>
              <a:highlight>
                <a:srgbClr val="1F1F1F"/>
              </a:highlight>
              <a:latin typeface="Courier New"/>
              <a:ea typeface="Courier New"/>
              <a:cs typeface="Courier New"/>
              <a:sym typeface="Courier New"/>
            </a:endParaRPr>
          </a:p>
          <a:p>
            <a:pPr indent="0" lvl="0" marL="0" rtl="0" algn="l">
              <a:spcBef>
                <a:spcPts val="0"/>
              </a:spcBef>
              <a:spcAft>
                <a:spcPts val="0"/>
              </a:spcAft>
              <a:buNone/>
            </a:pPr>
            <a:br>
              <a:rPr lang="en"/>
            </a:br>
            <a:r>
              <a:rPr lang="en">
                <a:solidFill>
                  <a:schemeClr val="dk1"/>
                </a:solidFill>
              </a:rPr>
              <a:t>"CoupleBond embodies Ecclesiastes 4:9—'Two are better than one.' CoupleBond is a private mobile app that helps Christian couples organize life, grow spiritually, and celebrate their God-given journey—together.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"What makes CoupleBond different? While WhatsApp is great for chatting and Google Photos stores pictures, neither understands your RELATIONSHIP or your FAITH. We integrate everything—shared lists, anniversary reminders, photo timelines, prayer reflections, to-dos, and calendar events—in ONE private space designed specifically for two people building a Christ-centered life together. As Calvin students and Christians, we believe technology should support our spiritual growth, not distract from it."</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27c739f51_8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27c739f51_8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27c739f5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27c739f5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Mary: Present</a:t>
            </a:r>
            <a:endParaRPr/>
          </a:p>
          <a:p>
            <a:pPr indent="0" lvl="0" marL="0" rtl="0" algn="l">
              <a:spcBef>
                <a:spcPts val="0"/>
              </a:spcBef>
              <a:spcAft>
                <a:spcPts val="0"/>
              </a:spcAft>
              <a:buNone/>
            </a:pPr>
            <a:r>
              <a:rPr lang="en"/>
              <a:t>Monica: Control Slides</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27c739f51_6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27c739f51_6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27c739f51_8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27c739f51_8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the stakeholders for their feedback, professors for their support, and the audience for listening.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6.png"/><Relationship Id="rId11" Type="http://schemas.openxmlformats.org/officeDocument/2006/relationships/image" Target="../media/image5.png"/><Relationship Id="rId10" Type="http://schemas.openxmlformats.org/officeDocument/2006/relationships/image" Target="../media/image3.png"/><Relationship Id="rId9"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10.png"/><Relationship Id="rId7" Type="http://schemas.openxmlformats.org/officeDocument/2006/relationships/image" Target="../media/image1.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B4B4"/>
        </a:soli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6000">
                <a:solidFill>
                  <a:schemeClr val="lt1"/>
                </a:solidFill>
              </a:rPr>
              <a:t>CoupleBond</a:t>
            </a:r>
            <a:endParaRPr b="1" sz="6000">
              <a:solidFill>
                <a:schemeClr val="lt1"/>
              </a:solidFill>
            </a:endParaRPr>
          </a:p>
        </p:txBody>
      </p:sp>
      <p:sp>
        <p:nvSpPr>
          <p:cNvPr id="60" name="Google Shape;60;p13"/>
          <p:cNvSpPr txBox="1"/>
          <p:nvPr>
            <p:ph idx="1" type="subTitle"/>
          </p:nvPr>
        </p:nvSpPr>
        <p:spPr>
          <a:xfrm>
            <a:off x="2729675" y="4272300"/>
            <a:ext cx="6371700" cy="8712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0"/>
              </a:spcAft>
              <a:buSzPts val="935"/>
              <a:buNone/>
            </a:pPr>
            <a:r>
              <a:rPr lang="en" sz="1380">
                <a:solidFill>
                  <a:schemeClr val="lt1"/>
                </a:solidFill>
              </a:rPr>
              <a:t>Team members: Anna St. Clair, Mary Chen, Monica Zhang, </a:t>
            </a:r>
            <a:endParaRPr sz="1380">
              <a:solidFill>
                <a:schemeClr val="lt1"/>
              </a:solidFill>
            </a:endParaRPr>
          </a:p>
          <a:p>
            <a:pPr indent="457200" lvl="0" marL="2743200" rtl="0" algn="l">
              <a:lnSpc>
                <a:spcPct val="90000"/>
              </a:lnSpc>
              <a:spcBef>
                <a:spcPts val="0"/>
              </a:spcBef>
              <a:spcAft>
                <a:spcPts val="0"/>
              </a:spcAft>
              <a:buSzPts val="935"/>
              <a:buNone/>
            </a:pPr>
            <a:r>
              <a:rPr lang="en" sz="1380">
                <a:solidFill>
                  <a:schemeClr val="lt1"/>
                </a:solidFill>
              </a:rPr>
              <a:t>Martin Liu, Simon Lin</a:t>
            </a:r>
            <a:endParaRPr sz="138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4"/>
          <p:cNvPicPr preferRelativeResize="0"/>
          <p:nvPr/>
        </p:nvPicPr>
        <p:blipFill>
          <a:blip r:embed="rId3">
            <a:alphaModFix/>
          </a:blip>
          <a:stretch>
            <a:fillRect/>
          </a:stretch>
        </p:blipFill>
        <p:spPr>
          <a:xfrm>
            <a:off x="0" y="0"/>
            <a:ext cx="1362801" cy="1362801"/>
          </a:xfrm>
          <a:prstGeom prst="rect">
            <a:avLst/>
          </a:prstGeom>
          <a:noFill/>
          <a:ln>
            <a:noFill/>
          </a:ln>
        </p:spPr>
      </p:pic>
      <p:pic>
        <p:nvPicPr>
          <p:cNvPr id="66" name="Google Shape;66;p14"/>
          <p:cNvPicPr preferRelativeResize="0"/>
          <p:nvPr/>
        </p:nvPicPr>
        <p:blipFill>
          <a:blip r:embed="rId4">
            <a:alphaModFix/>
          </a:blip>
          <a:stretch>
            <a:fillRect/>
          </a:stretch>
        </p:blipFill>
        <p:spPr>
          <a:xfrm>
            <a:off x="7295575" y="3193126"/>
            <a:ext cx="1848425" cy="1848425"/>
          </a:xfrm>
          <a:prstGeom prst="rect">
            <a:avLst/>
          </a:prstGeom>
          <a:noFill/>
          <a:ln>
            <a:noFill/>
          </a:ln>
        </p:spPr>
      </p:pic>
      <p:sp>
        <p:nvSpPr>
          <p:cNvPr id="67" name="Google Shape;67;p14"/>
          <p:cNvSpPr/>
          <p:nvPr/>
        </p:nvSpPr>
        <p:spPr>
          <a:xfrm>
            <a:off x="1319375" y="1020450"/>
            <a:ext cx="6874953" cy="3401610"/>
          </a:xfrm>
          <a:custGeom>
            <a:rect b="b" l="l" r="r" t="t"/>
            <a:pathLst>
              <a:path extrusionOk="0" h="134824" w="267586">
                <a:moveTo>
                  <a:pt x="0" y="0"/>
                </a:moveTo>
                <a:lnTo>
                  <a:pt x="13194" y="38757"/>
                </a:lnTo>
                <a:lnTo>
                  <a:pt x="74215" y="27624"/>
                </a:lnTo>
                <a:lnTo>
                  <a:pt x="98129" y="75864"/>
                </a:lnTo>
                <a:lnTo>
                  <a:pt x="162861" y="69267"/>
                </a:lnTo>
                <a:lnTo>
                  <a:pt x="183064" y="116270"/>
                </a:lnTo>
                <a:lnTo>
                  <a:pt x="228830" y="105962"/>
                </a:lnTo>
                <a:lnTo>
                  <a:pt x="252331" y="134824"/>
                </a:lnTo>
                <a:lnTo>
                  <a:pt x="267586" y="128639"/>
                </a:lnTo>
              </a:path>
            </a:pathLst>
          </a:custGeom>
          <a:noFill/>
          <a:ln cap="flat" cmpd="sng" w="38100">
            <a:solidFill>
              <a:srgbClr val="EFB4B4"/>
            </a:solidFill>
            <a:prstDash val="solid"/>
            <a:round/>
            <a:headEnd len="med" w="med" type="none"/>
            <a:tailEnd len="med" w="med" type="triangle"/>
          </a:ln>
          <a:effectLst>
            <a:outerShdw blurRad="57150" rotWithShape="0" algn="bl" dir="5400000" dist="19050">
              <a:srgbClr val="000000">
                <a:alpha val="50000"/>
              </a:srgbClr>
            </a:outerShdw>
          </a:effectLst>
        </p:spPr>
      </p:sp>
      <p:sp>
        <p:nvSpPr>
          <p:cNvPr id="68" name="Google Shape;68;p14"/>
          <p:cNvSpPr/>
          <p:nvPr/>
        </p:nvSpPr>
        <p:spPr>
          <a:xfrm>
            <a:off x="1183150" y="1296525"/>
            <a:ext cx="6874953" cy="3401610"/>
          </a:xfrm>
          <a:custGeom>
            <a:rect b="b" l="l" r="r" t="t"/>
            <a:pathLst>
              <a:path extrusionOk="0" h="134824" w="267586">
                <a:moveTo>
                  <a:pt x="0" y="0"/>
                </a:moveTo>
                <a:lnTo>
                  <a:pt x="13194" y="38757"/>
                </a:lnTo>
                <a:lnTo>
                  <a:pt x="74215" y="27624"/>
                </a:lnTo>
                <a:lnTo>
                  <a:pt x="98129" y="75864"/>
                </a:lnTo>
                <a:lnTo>
                  <a:pt x="162861" y="69267"/>
                </a:lnTo>
                <a:lnTo>
                  <a:pt x="183064" y="116270"/>
                </a:lnTo>
                <a:lnTo>
                  <a:pt x="228830" y="105962"/>
                </a:lnTo>
                <a:lnTo>
                  <a:pt x="252331" y="134824"/>
                </a:lnTo>
                <a:lnTo>
                  <a:pt x="267586" y="128639"/>
                </a:lnTo>
              </a:path>
            </a:pathLst>
          </a:custGeom>
          <a:noFill/>
          <a:ln cap="flat" cmpd="sng" w="38100">
            <a:solidFill>
              <a:srgbClr val="EFB4B4"/>
            </a:solidFill>
            <a:prstDash val="solid"/>
            <a:round/>
            <a:headEnd len="med" w="med" type="triangle"/>
            <a:tailEnd len="med" w="med" type="none"/>
          </a:ln>
        </p:spPr>
      </p:sp>
      <p:pic>
        <p:nvPicPr>
          <p:cNvPr id="69" name="Google Shape;69;p14"/>
          <p:cNvPicPr preferRelativeResize="0"/>
          <p:nvPr/>
        </p:nvPicPr>
        <p:blipFill>
          <a:blip r:embed="rId5">
            <a:alphaModFix/>
          </a:blip>
          <a:stretch>
            <a:fillRect/>
          </a:stretch>
        </p:blipFill>
        <p:spPr>
          <a:xfrm rot="732059">
            <a:off x="3564665" y="267641"/>
            <a:ext cx="1306897" cy="1306917"/>
          </a:xfrm>
          <a:prstGeom prst="rect">
            <a:avLst/>
          </a:prstGeom>
          <a:noFill/>
          <a:ln>
            <a:noFill/>
          </a:ln>
        </p:spPr>
      </p:pic>
      <p:pic>
        <p:nvPicPr>
          <p:cNvPr id="70" name="Google Shape;70;p14"/>
          <p:cNvPicPr preferRelativeResize="0"/>
          <p:nvPr/>
        </p:nvPicPr>
        <p:blipFill>
          <a:blip r:embed="rId6">
            <a:alphaModFix/>
          </a:blip>
          <a:stretch>
            <a:fillRect/>
          </a:stretch>
        </p:blipFill>
        <p:spPr>
          <a:xfrm rot="1601376">
            <a:off x="7127472" y="1792972"/>
            <a:ext cx="1036433" cy="1036433"/>
          </a:xfrm>
          <a:prstGeom prst="rect">
            <a:avLst/>
          </a:prstGeom>
          <a:noFill/>
          <a:ln>
            <a:noFill/>
          </a:ln>
        </p:spPr>
      </p:pic>
      <p:pic>
        <p:nvPicPr>
          <p:cNvPr id="71" name="Google Shape;71;p14"/>
          <p:cNvPicPr preferRelativeResize="0"/>
          <p:nvPr/>
        </p:nvPicPr>
        <p:blipFill>
          <a:blip r:embed="rId7">
            <a:alphaModFix/>
          </a:blip>
          <a:stretch>
            <a:fillRect/>
          </a:stretch>
        </p:blipFill>
        <p:spPr>
          <a:xfrm rot="1466553">
            <a:off x="3035215" y="3374089"/>
            <a:ext cx="1116521" cy="1116521"/>
          </a:xfrm>
          <a:prstGeom prst="rect">
            <a:avLst/>
          </a:prstGeom>
          <a:noFill/>
          <a:ln>
            <a:noFill/>
          </a:ln>
        </p:spPr>
      </p:pic>
      <p:pic>
        <p:nvPicPr>
          <p:cNvPr id="72" name="Google Shape;72;p14"/>
          <p:cNvPicPr preferRelativeResize="0"/>
          <p:nvPr/>
        </p:nvPicPr>
        <p:blipFill>
          <a:blip r:embed="rId8">
            <a:alphaModFix/>
          </a:blip>
          <a:stretch>
            <a:fillRect/>
          </a:stretch>
        </p:blipFill>
        <p:spPr>
          <a:xfrm rot="-1135949">
            <a:off x="5202931" y="352333"/>
            <a:ext cx="1538960" cy="1538960"/>
          </a:xfrm>
          <a:prstGeom prst="rect">
            <a:avLst/>
          </a:prstGeom>
          <a:noFill/>
          <a:ln>
            <a:noFill/>
          </a:ln>
        </p:spPr>
      </p:pic>
      <p:pic>
        <p:nvPicPr>
          <p:cNvPr id="73" name="Google Shape;73;p14"/>
          <p:cNvPicPr preferRelativeResize="0"/>
          <p:nvPr/>
        </p:nvPicPr>
        <p:blipFill>
          <a:blip r:embed="rId9">
            <a:alphaModFix/>
          </a:blip>
          <a:stretch>
            <a:fillRect/>
          </a:stretch>
        </p:blipFill>
        <p:spPr>
          <a:xfrm rot="-1112870">
            <a:off x="70200" y="1883075"/>
            <a:ext cx="1391525" cy="1391525"/>
          </a:xfrm>
          <a:prstGeom prst="rect">
            <a:avLst/>
          </a:prstGeom>
          <a:noFill/>
          <a:ln>
            <a:noFill/>
          </a:ln>
        </p:spPr>
      </p:pic>
      <p:pic>
        <p:nvPicPr>
          <p:cNvPr id="74" name="Google Shape;74;p14"/>
          <p:cNvPicPr preferRelativeResize="0"/>
          <p:nvPr/>
        </p:nvPicPr>
        <p:blipFill>
          <a:blip r:embed="rId10">
            <a:alphaModFix/>
          </a:blip>
          <a:stretch>
            <a:fillRect/>
          </a:stretch>
        </p:blipFill>
        <p:spPr>
          <a:xfrm rot="1669395">
            <a:off x="4497575" y="3647815"/>
            <a:ext cx="939043" cy="939043"/>
          </a:xfrm>
          <a:prstGeom prst="rect">
            <a:avLst/>
          </a:prstGeom>
          <a:noFill/>
          <a:ln>
            <a:noFill/>
          </a:ln>
        </p:spPr>
      </p:pic>
      <p:sp>
        <p:nvSpPr>
          <p:cNvPr id="75" name="Google Shape;75;p14"/>
          <p:cNvSpPr txBox="1"/>
          <p:nvPr/>
        </p:nvSpPr>
        <p:spPr>
          <a:xfrm rot="-1130871">
            <a:off x="5610908" y="1654884"/>
            <a:ext cx="1869334" cy="369236"/>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My Prayer Room</a:t>
            </a:r>
            <a:endParaRPr sz="1200">
              <a:solidFill>
                <a:schemeClr val="dk1"/>
              </a:solidFill>
              <a:latin typeface="Times New Roman"/>
              <a:ea typeface="Times New Roman"/>
              <a:cs typeface="Times New Roman"/>
              <a:sym typeface="Times New Roman"/>
            </a:endParaRPr>
          </a:p>
        </p:txBody>
      </p:sp>
      <p:sp>
        <p:nvSpPr>
          <p:cNvPr id="76" name="Google Shape;76;p14"/>
          <p:cNvSpPr txBox="1"/>
          <p:nvPr/>
        </p:nvSpPr>
        <p:spPr>
          <a:xfrm rot="1663516">
            <a:off x="6830253" y="2812605"/>
            <a:ext cx="1106544" cy="36943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WhatsApp</a:t>
            </a:r>
            <a:endParaRPr sz="1200">
              <a:solidFill>
                <a:schemeClr val="dk1"/>
              </a:solidFill>
              <a:latin typeface="Times New Roman"/>
              <a:ea typeface="Times New Roman"/>
              <a:cs typeface="Times New Roman"/>
              <a:sym typeface="Times New Roman"/>
            </a:endParaRPr>
          </a:p>
        </p:txBody>
      </p:sp>
      <p:sp>
        <p:nvSpPr>
          <p:cNvPr id="77" name="Google Shape;77;p14"/>
          <p:cNvSpPr txBox="1"/>
          <p:nvPr/>
        </p:nvSpPr>
        <p:spPr>
          <a:xfrm rot="676220">
            <a:off x="3466802" y="1625500"/>
            <a:ext cx="1106742" cy="369247"/>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Days Matter</a:t>
            </a:r>
            <a:endParaRPr sz="1200">
              <a:solidFill>
                <a:schemeClr val="dk1"/>
              </a:solidFill>
              <a:latin typeface="Times New Roman"/>
              <a:ea typeface="Times New Roman"/>
              <a:cs typeface="Times New Roman"/>
              <a:sym typeface="Times New Roman"/>
            </a:endParaRPr>
          </a:p>
        </p:txBody>
      </p:sp>
      <p:sp>
        <p:nvSpPr>
          <p:cNvPr id="78" name="Google Shape;78;p14"/>
          <p:cNvSpPr txBox="1"/>
          <p:nvPr/>
        </p:nvSpPr>
        <p:spPr>
          <a:xfrm rot="1060">
            <a:off x="1461237" y="4270850"/>
            <a:ext cx="972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Messenger</a:t>
            </a:r>
            <a:endParaRPr sz="1200">
              <a:solidFill>
                <a:schemeClr val="dk1"/>
              </a:solidFill>
              <a:latin typeface="Times New Roman"/>
              <a:ea typeface="Times New Roman"/>
              <a:cs typeface="Times New Roman"/>
              <a:sym typeface="Times New Roman"/>
            </a:endParaRPr>
          </a:p>
        </p:txBody>
      </p:sp>
      <p:sp>
        <p:nvSpPr>
          <p:cNvPr id="79" name="Google Shape;79;p14"/>
          <p:cNvSpPr txBox="1"/>
          <p:nvPr/>
        </p:nvSpPr>
        <p:spPr>
          <a:xfrm rot="1439263">
            <a:off x="2734219" y="4479724"/>
            <a:ext cx="1106900" cy="369454"/>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Days Matter</a:t>
            </a:r>
            <a:endParaRPr sz="1200">
              <a:solidFill>
                <a:schemeClr val="dk1"/>
              </a:solidFill>
              <a:latin typeface="Times New Roman"/>
              <a:ea typeface="Times New Roman"/>
              <a:cs typeface="Times New Roman"/>
              <a:sym typeface="Times New Roman"/>
            </a:endParaRPr>
          </a:p>
        </p:txBody>
      </p:sp>
      <p:sp>
        <p:nvSpPr>
          <p:cNvPr id="80" name="Google Shape;80;p14"/>
          <p:cNvSpPr txBox="1"/>
          <p:nvPr/>
        </p:nvSpPr>
        <p:spPr>
          <a:xfrm rot="1775419">
            <a:off x="3980478" y="4617734"/>
            <a:ext cx="1682885" cy="369464"/>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Google Calendar</a:t>
            </a:r>
            <a:endParaRPr sz="1200">
              <a:solidFill>
                <a:schemeClr val="dk1"/>
              </a:solidFill>
              <a:latin typeface="Times New Roman"/>
              <a:ea typeface="Times New Roman"/>
              <a:cs typeface="Times New Roman"/>
              <a:sym typeface="Times New Roman"/>
            </a:endParaRPr>
          </a:p>
        </p:txBody>
      </p:sp>
      <p:sp>
        <p:nvSpPr>
          <p:cNvPr id="81" name="Google Shape;81;p14"/>
          <p:cNvSpPr txBox="1"/>
          <p:nvPr/>
        </p:nvSpPr>
        <p:spPr>
          <a:xfrm rot="-1045688">
            <a:off x="510155" y="3259513"/>
            <a:ext cx="1106810" cy="369474"/>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Photos</a:t>
            </a:r>
            <a:endParaRPr sz="1200">
              <a:solidFill>
                <a:schemeClr val="dk1"/>
              </a:solidFill>
              <a:latin typeface="Times New Roman"/>
              <a:ea typeface="Times New Roman"/>
              <a:cs typeface="Times New Roman"/>
              <a:sym typeface="Times New Roman"/>
            </a:endParaRPr>
          </a:p>
        </p:txBody>
      </p:sp>
      <p:sp>
        <p:nvSpPr>
          <p:cNvPr id="82" name="Google Shape;82;p14"/>
          <p:cNvSpPr txBox="1"/>
          <p:nvPr/>
        </p:nvSpPr>
        <p:spPr>
          <a:xfrm rot="-1898">
            <a:off x="409758" y="1296666"/>
            <a:ext cx="543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Sarah</a:t>
            </a:r>
            <a:endParaRPr sz="1200">
              <a:solidFill>
                <a:schemeClr val="dk1"/>
              </a:solidFill>
              <a:latin typeface="Times New Roman"/>
              <a:ea typeface="Times New Roman"/>
              <a:cs typeface="Times New Roman"/>
              <a:sym typeface="Times New Roman"/>
            </a:endParaRPr>
          </a:p>
        </p:txBody>
      </p:sp>
      <p:sp>
        <p:nvSpPr>
          <p:cNvPr id="83" name="Google Shape;83;p14"/>
          <p:cNvSpPr txBox="1"/>
          <p:nvPr/>
        </p:nvSpPr>
        <p:spPr>
          <a:xfrm rot="-1777">
            <a:off x="8238658" y="3102394"/>
            <a:ext cx="580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David</a:t>
            </a:r>
            <a:endParaRPr sz="1200">
              <a:solidFill>
                <a:schemeClr val="dk1"/>
              </a:solidFill>
              <a:latin typeface="Times New Roman"/>
              <a:ea typeface="Times New Roman"/>
              <a:cs typeface="Times New Roman"/>
              <a:sym typeface="Times New Roman"/>
            </a:endParaRPr>
          </a:p>
        </p:txBody>
      </p:sp>
      <p:pic>
        <p:nvPicPr>
          <p:cNvPr id="84" name="Google Shape;84;p14"/>
          <p:cNvPicPr preferRelativeResize="0"/>
          <p:nvPr/>
        </p:nvPicPr>
        <p:blipFill>
          <a:blip r:embed="rId11">
            <a:alphaModFix/>
          </a:blip>
          <a:stretch>
            <a:fillRect/>
          </a:stretch>
        </p:blipFill>
        <p:spPr>
          <a:xfrm>
            <a:off x="1428388" y="3232125"/>
            <a:ext cx="1038575" cy="1038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5"/>
          <p:cNvSpPr txBox="1"/>
          <p:nvPr>
            <p:ph type="title"/>
          </p:nvPr>
        </p:nvSpPr>
        <p:spPr>
          <a:xfrm>
            <a:off x="2165703" y="421350"/>
            <a:ext cx="4812600" cy="976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Vision</a:t>
            </a:r>
            <a:endParaRPr b="1"/>
          </a:p>
        </p:txBody>
      </p:sp>
      <p:sp>
        <p:nvSpPr>
          <p:cNvPr id="90" name="Google Shape;90;p15"/>
          <p:cNvSpPr txBox="1"/>
          <p:nvPr>
            <p:ph idx="1" type="body"/>
          </p:nvPr>
        </p:nvSpPr>
        <p:spPr>
          <a:xfrm>
            <a:off x="573900" y="1897200"/>
            <a:ext cx="7996200" cy="254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latin typeface="Times New Roman"/>
                <a:ea typeface="Times New Roman"/>
                <a:cs typeface="Times New Roman"/>
                <a:sym typeface="Times New Roman"/>
              </a:rPr>
              <a:t>CoupleBond </a:t>
            </a:r>
            <a:r>
              <a:rPr lang="en">
                <a:latin typeface="Times New Roman"/>
                <a:ea typeface="Times New Roman"/>
                <a:cs typeface="Times New Roman"/>
                <a:sym typeface="Times New Roman"/>
              </a:rPr>
              <a:t>is a</a:t>
            </a:r>
            <a:r>
              <a:rPr lang="en">
                <a:latin typeface="Times New Roman"/>
                <a:ea typeface="Times New Roman"/>
                <a:cs typeface="Times New Roman"/>
                <a:sym typeface="Times New Roman"/>
              </a:rPr>
              <a:t> private mobile app that helps Christian couples organize life, grow spiritually, and celebrate their God-given journey—together. </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txBox="1"/>
          <p:nvPr>
            <p:ph type="title"/>
          </p:nvPr>
        </p:nvSpPr>
        <p:spPr>
          <a:xfrm>
            <a:off x="3830550" y="1308475"/>
            <a:ext cx="1482900" cy="56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900">
                <a:latin typeface="Times New Roman"/>
                <a:ea typeface="Times New Roman"/>
                <a:cs typeface="Times New Roman"/>
                <a:sym typeface="Times New Roman"/>
              </a:rPr>
              <a:t>Demo</a:t>
            </a:r>
            <a:endParaRPr sz="29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9" name="Shape 99"/>
        <p:cNvGrpSpPr/>
        <p:nvPr/>
      </p:nvGrpSpPr>
      <p:grpSpPr>
        <a:xfrm>
          <a:off x="0" y="0"/>
          <a:ext cx="0" cy="0"/>
          <a:chOff x="0" y="0"/>
          <a:chExt cx="0" cy="0"/>
        </a:xfrm>
      </p:grpSpPr>
      <p:sp>
        <p:nvSpPr>
          <p:cNvPr id="100" name="Google Shape;100;p17"/>
          <p:cNvSpPr txBox="1"/>
          <p:nvPr>
            <p:ph type="title"/>
          </p:nvPr>
        </p:nvSpPr>
        <p:spPr>
          <a:xfrm>
            <a:off x="36275" y="-59550"/>
            <a:ext cx="8520600" cy="500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Domain Model</a:t>
            </a:r>
            <a:endParaRPr/>
          </a:p>
        </p:txBody>
      </p:sp>
      <p:pic>
        <p:nvPicPr>
          <p:cNvPr id="101" name="Google Shape;101;p17"/>
          <p:cNvPicPr preferRelativeResize="0"/>
          <p:nvPr/>
        </p:nvPicPr>
        <p:blipFill>
          <a:blip r:embed="rId3">
            <a:alphaModFix/>
          </a:blip>
          <a:stretch>
            <a:fillRect/>
          </a:stretch>
        </p:blipFill>
        <p:spPr>
          <a:xfrm>
            <a:off x="638063" y="525675"/>
            <a:ext cx="7317024" cy="45033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UI</a:t>
            </a:r>
            <a:r>
              <a:rPr lang="en"/>
              <a:t> </a:t>
            </a:r>
            <a:r>
              <a:rPr lang="en">
                <a:latin typeface="Times New Roman"/>
                <a:ea typeface="Times New Roman"/>
                <a:cs typeface="Times New Roman"/>
                <a:sym typeface="Times New Roman"/>
              </a:rPr>
              <a:t>Model</a:t>
            </a:r>
            <a:endParaRPr>
              <a:latin typeface="Times New Roman"/>
              <a:ea typeface="Times New Roman"/>
              <a:cs typeface="Times New Roman"/>
              <a:sym typeface="Times New Roman"/>
            </a:endParaRPr>
          </a:p>
        </p:txBody>
      </p:sp>
      <p:pic>
        <p:nvPicPr>
          <p:cNvPr id="107" name="Google Shape;107;p18" title="Screenshot 2025-11-12 at 7.01.32 AM.png"/>
          <p:cNvPicPr preferRelativeResize="0"/>
          <p:nvPr/>
        </p:nvPicPr>
        <p:blipFill>
          <a:blip r:embed="rId3">
            <a:alphaModFix/>
          </a:blip>
          <a:stretch>
            <a:fillRect/>
          </a:stretch>
        </p:blipFill>
        <p:spPr>
          <a:xfrm>
            <a:off x="2666425" y="276450"/>
            <a:ext cx="5954751" cy="4395652"/>
          </a:xfrm>
          <a:prstGeom prst="rect">
            <a:avLst/>
          </a:prstGeom>
          <a:noFill/>
          <a:ln cap="flat" cmpd="sng" w="19050">
            <a:solidFill>
              <a:schemeClr val="dk1"/>
            </a:solidFill>
            <a:prstDash val="solid"/>
            <a:round/>
            <a:headEnd len="sm" w="sm" type="none"/>
            <a:tailEnd len="sm" w="sm" type="none"/>
          </a:ln>
        </p:spPr>
      </p:pic>
      <p:sp>
        <p:nvSpPr>
          <p:cNvPr id="108" name="Google Shape;108;p18"/>
          <p:cNvSpPr txBox="1"/>
          <p:nvPr/>
        </p:nvSpPr>
        <p:spPr>
          <a:xfrm>
            <a:off x="45050" y="1349075"/>
            <a:ext cx="2877000" cy="282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More features to come!</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Including:</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09" name="Google Shape;109;p18"/>
          <p:cNvSpPr txBox="1"/>
          <p:nvPr/>
        </p:nvSpPr>
        <p:spPr>
          <a:xfrm>
            <a:off x="-122200" y="2488775"/>
            <a:ext cx="63996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Calendar</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Anniversary Reminders</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To-Do List</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2477100" y="1446125"/>
            <a:ext cx="4189800" cy="879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Thank you for listening!</a:t>
            </a:r>
            <a:endParaRPr/>
          </a:p>
        </p:txBody>
      </p:sp>
      <p:sp>
        <p:nvSpPr>
          <p:cNvPr id="115" name="Google Shape;115;p19"/>
          <p:cNvSpPr txBox="1"/>
          <p:nvPr/>
        </p:nvSpPr>
        <p:spPr>
          <a:xfrm>
            <a:off x="1938600" y="2110050"/>
            <a:ext cx="52668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800">
                <a:solidFill>
                  <a:schemeClr val="dk1"/>
                </a:solidFill>
                <a:latin typeface="Old Standard TT"/>
                <a:ea typeface="Old Standard TT"/>
                <a:cs typeface="Old Standard TT"/>
                <a:sym typeface="Old Standard TT"/>
              </a:rPr>
              <a:t>Q&amp;A</a:t>
            </a:r>
            <a:endParaRPr sz="4800">
              <a:solidFill>
                <a:schemeClr val="dk1"/>
              </a:solidFill>
              <a:latin typeface="Old Standard TT"/>
              <a:ea typeface="Old Standard TT"/>
              <a:cs typeface="Old Standard TT"/>
              <a:sym typeface="Old Standard TT"/>
            </a:endParaRPr>
          </a:p>
        </p:txBody>
      </p:sp>
      <p:sp>
        <p:nvSpPr>
          <p:cNvPr id="116" name="Google Shape;116;p19"/>
          <p:cNvSpPr txBox="1"/>
          <p:nvPr/>
        </p:nvSpPr>
        <p:spPr>
          <a:xfrm>
            <a:off x="1938600" y="3033450"/>
            <a:ext cx="5266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Old Standard TT"/>
                <a:ea typeface="Old Standard TT"/>
                <a:cs typeface="Old Standard TT"/>
                <a:sym typeface="Old Standard TT"/>
              </a:rPr>
              <a:t>Do </a:t>
            </a:r>
            <a:r>
              <a:rPr lang="en" sz="1800">
                <a:solidFill>
                  <a:schemeClr val="dk1"/>
                </a:solidFill>
                <a:latin typeface="Old Standard TT"/>
                <a:ea typeface="Old Standard TT"/>
                <a:cs typeface="Old Standard TT"/>
                <a:sym typeface="Old Standard TT"/>
              </a:rPr>
              <a:t>you</a:t>
            </a:r>
            <a:r>
              <a:rPr lang="en" sz="1800">
                <a:solidFill>
                  <a:schemeClr val="dk1"/>
                </a:solidFill>
                <a:latin typeface="Old Standard TT"/>
                <a:ea typeface="Old Standard TT"/>
                <a:cs typeface="Old Standard TT"/>
                <a:sym typeface="Old Standard TT"/>
              </a:rPr>
              <a:t> have any questions?</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